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complete workflow before showing Figures 1–4. These are synthetic, numerically checked simulations with illustrative material parameters. They are not experimental measurements. Figure 1 isolates analyzer rotation, Figure 2 shows mechanics, Figure 3 connects mechanics to optics, and Figure 4 illustrates constrained reconstruction.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load is unchanged across these panels. The analyzer selects different components of the emerging polarized light. The ideal clear hole is bright at 0 degrees and dark at 90 degrees. Brightness is not a direct stress scale.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example has a left roller grip and uniform tensile loading on the right edge. The solver assumes linear elasticity and plane stress. Displacement and stress are different quantities. The displayed shape is exaggerated.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top-left map is principal stress difference in MPa, not an individual stress component. The top-middle map shows phase retardation at 525 nm. The analyzer is crossed at 90 degrees. Intensity also depends on the principal-axis orientation, so the brightest pixels need not have the largest stress. The coefficient is assumed unless measured.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Reconstruction is conditional on known principal-axis orientation, thickness and optical coefficient. This separate 1400 N case is not the same load as Figures 1–3. It estimates stress difference, not the full tensor. 1395 of 4072 material pixels are accepted. Median absolute error is 0.294 MPa, RMSE 1.421 MPa, and six accepted pixels exceed 5 MPa error; the largest error is 19.309 MPa due to an incorrect fringe branch. The shared map color scale now includes these outliers. Local approximate 95% interval coverage is 95.84% in this one synthetic realization; this does not establish experimental calibration. Full details: docs/FIGURE_AUDIT.md.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01168"/>
            <a:ext cx="10972800" cy="274320"/>
          </a:xfrm>
          <a:prstGeom prst="rect">
            <a:avLst/>
          </a:prstGeom>
          <a:noFill/>
        </p:spPr>
        <p:txBody>
          <a:bodyPr wrap="square" lIns="0" rIns="0" tIns="0" bIns="0">
            <a:spAutoFit/>
          </a:bodyPr>
          <a:lstStyle/>
          <a:p>
            <a:pPr>
              <a:defRPr sz="1100" b="1">
                <a:solidFill>
                  <a:srgbClr val="007F82"/>
                </a:solidFill>
                <a:latin typeface="Aptos"/>
              </a:defRPr>
            </a:pPr>
            <a:r>
              <a:t>POLARIS-X / POLARIMETRIC STRESS IMAGING</a:t>
            </a:r>
          </a:p>
        </p:txBody>
      </p:sp>
      <p:sp>
        <p:nvSpPr>
          <p:cNvPr id="3" name="TextBox 2"/>
          <p:cNvSpPr txBox="1"/>
          <p:nvPr/>
        </p:nvSpPr>
        <p:spPr>
          <a:xfrm>
            <a:off x="457200" y="585216"/>
            <a:ext cx="11247120" cy="548640"/>
          </a:xfrm>
          <a:prstGeom prst="rect">
            <a:avLst/>
          </a:prstGeom>
          <a:noFill/>
        </p:spPr>
        <p:txBody>
          <a:bodyPr wrap="square" lIns="0" rIns="0" tIns="0" bIns="0">
            <a:spAutoFit/>
          </a:bodyPr>
          <a:lstStyle/>
          <a:p>
            <a:pPr>
              <a:defRPr sz="2800" b="1">
                <a:solidFill>
                  <a:srgbClr val="132A42"/>
                </a:solidFill>
                <a:latin typeface="Aptos"/>
              </a:defRPr>
            </a:pPr>
            <a:r>
              <a:t>From mechanical stress to polarized-light images</a:t>
            </a:r>
          </a:p>
        </p:txBody>
      </p:sp>
      <p:sp>
        <p:nvSpPr>
          <p:cNvPr id="4" name="Rectangle 3"/>
          <p:cNvSpPr/>
          <p:nvPr/>
        </p:nvSpPr>
        <p:spPr>
          <a:xfrm>
            <a:off x="457200" y="1216152"/>
            <a:ext cx="11247120" cy="2286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10528"/>
            <a:ext cx="10881360" cy="210312"/>
          </a:xfrm>
          <a:prstGeom prst="rect">
            <a:avLst/>
          </a:prstGeom>
          <a:noFill/>
        </p:spPr>
        <p:txBody>
          <a:bodyPr wrap="square" lIns="0" rIns="0" tIns="0" bIns="0">
            <a:spAutoFit/>
          </a:bodyPr>
          <a:lstStyle/>
          <a:p>
            <a:pPr>
              <a:defRPr sz="1000" b="0">
                <a:solidFill>
                  <a:srgbClr val="425466"/>
                </a:solidFill>
                <a:latin typeface="Aptos"/>
              </a:defRPr>
            </a:pPr>
            <a:r>
              <a:t>Synthetic simulation • Illustrative material parameters • Experimental calibration required</a:t>
            </a:r>
          </a:p>
        </p:txBody>
      </p:sp>
      <p:sp>
        <p:nvSpPr>
          <p:cNvPr id="6" name="TextBox 5"/>
          <p:cNvSpPr txBox="1"/>
          <p:nvPr/>
        </p:nvSpPr>
        <p:spPr>
          <a:xfrm>
            <a:off x="11247120" y="6473952"/>
            <a:ext cx="411480" cy="274320"/>
          </a:xfrm>
          <a:prstGeom prst="rect">
            <a:avLst/>
          </a:prstGeom>
          <a:noFill/>
        </p:spPr>
        <p:txBody>
          <a:bodyPr wrap="square" lIns="0" rIns="0" tIns="0" bIns="0">
            <a:spAutoFit/>
          </a:bodyPr>
          <a:lstStyle/>
          <a:p>
            <a:pPr>
              <a:defRPr sz="1200" b="1">
                <a:solidFill>
                  <a:srgbClr val="007F82"/>
                </a:solidFill>
                <a:latin typeface="Aptos"/>
              </a:defRPr>
            </a:pPr>
            <a:r>
              <a:t>01</a:t>
            </a:r>
          </a:p>
        </p:txBody>
      </p:sp>
      <p:sp>
        <p:nvSpPr>
          <p:cNvPr id="7" name="TextBox 6"/>
          <p:cNvSpPr txBox="1"/>
          <p:nvPr/>
        </p:nvSpPr>
        <p:spPr>
          <a:xfrm>
            <a:off x="548640" y="1499616"/>
            <a:ext cx="2743200" cy="365760"/>
          </a:xfrm>
          <a:prstGeom prst="rect">
            <a:avLst/>
          </a:prstGeom>
          <a:noFill/>
        </p:spPr>
        <p:txBody>
          <a:bodyPr wrap="square" lIns="0" rIns="0" tIns="0" bIns="0">
            <a:spAutoFit/>
          </a:bodyPr>
          <a:lstStyle/>
          <a:p>
            <a:pPr>
              <a:defRPr sz="2100" b="1">
                <a:solidFill>
                  <a:srgbClr val="132A42"/>
                </a:solidFill>
                <a:latin typeface="Aptos"/>
              </a:defRPr>
            </a:pPr>
            <a:r>
              <a:t>Objective</a:t>
            </a:r>
          </a:p>
        </p:txBody>
      </p:sp>
      <p:sp>
        <p:nvSpPr>
          <p:cNvPr id="8" name="TextBox 7"/>
          <p:cNvSpPr txBox="1"/>
          <p:nvPr/>
        </p:nvSpPr>
        <p:spPr>
          <a:xfrm>
            <a:off x="548640" y="1938528"/>
            <a:ext cx="10972800" cy="731520"/>
          </a:xfrm>
          <a:prstGeom prst="rect">
            <a:avLst/>
          </a:prstGeom>
          <a:noFill/>
        </p:spPr>
        <p:txBody>
          <a:bodyPr wrap="square" lIns="0" rIns="0" tIns="0" bIns="0">
            <a:spAutoFit/>
          </a:bodyPr>
          <a:lstStyle/>
          <a:p>
            <a:pPr>
              <a:defRPr sz="2300" b="0">
                <a:solidFill>
                  <a:srgbClr val="132A42"/>
                </a:solidFill>
                <a:latin typeface="Aptos"/>
              </a:defRPr>
            </a:pPr>
            <a:r>
              <a:t>Predict the optical response around a circular hole and explore where stress differences can be recovered from synthetic images.</a:t>
            </a:r>
          </a:p>
        </p:txBody>
      </p:sp>
      <p:sp>
        <p:nvSpPr>
          <p:cNvPr id="9" name="Rectangle 8"/>
          <p:cNvSpPr/>
          <p:nvPr/>
        </p:nvSpPr>
        <p:spPr>
          <a:xfrm>
            <a:off x="548640" y="2971800"/>
            <a:ext cx="1984248" cy="768096"/>
          </a:xfrm>
          <a:prstGeom prst="rect">
            <a:avLst/>
          </a:prstGeom>
          <a:solidFill>
            <a:srgbClr val="ED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154680"/>
            <a:ext cx="1773936" cy="457200"/>
          </a:xfrm>
          <a:prstGeom prst="rect">
            <a:avLst/>
          </a:prstGeom>
          <a:noFill/>
        </p:spPr>
        <p:txBody>
          <a:bodyPr wrap="square" lIns="0" rIns="0" tIns="0" bIns="0">
            <a:spAutoFit/>
          </a:bodyPr>
          <a:lstStyle/>
          <a:p>
            <a:pPr>
              <a:defRPr sz="1700" b="1">
                <a:solidFill>
                  <a:srgbClr val="007F82"/>
                </a:solidFill>
                <a:latin typeface="Aptos"/>
              </a:defRPr>
            </a:pPr>
            <a:r>
              <a:t>Mechanical loading</a:t>
            </a:r>
          </a:p>
        </p:txBody>
      </p:sp>
      <p:sp>
        <p:nvSpPr>
          <p:cNvPr id="11" name="TextBox 10"/>
          <p:cNvSpPr txBox="1"/>
          <p:nvPr/>
        </p:nvSpPr>
        <p:spPr>
          <a:xfrm>
            <a:off x="2578608" y="3172968"/>
            <a:ext cx="274320" cy="365760"/>
          </a:xfrm>
          <a:prstGeom prst="rect">
            <a:avLst/>
          </a:prstGeom>
          <a:noFill/>
        </p:spPr>
        <p:txBody>
          <a:bodyPr wrap="square" lIns="0" rIns="0" tIns="0" bIns="0">
            <a:spAutoFit/>
          </a:bodyPr>
          <a:lstStyle/>
          <a:p>
            <a:pPr>
              <a:defRPr sz="2000" b="1">
                <a:solidFill>
                  <a:srgbClr val="007F82"/>
                </a:solidFill>
                <a:latin typeface="Aptos"/>
              </a:defRPr>
            </a:pPr>
            <a:r>
              <a:t>→</a:t>
            </a:r>
          </a:p>
        </p:txBody>
      </p:sp>
      <p:sp>
        <p:nvSpPr>
          <p:cNvPr id="12" name="Rectangle 11"/>
          <p:cNvSpPr/>
          <p:nvPr/>
        </p:nvSpPr>
        <p:spPr>
          <a:xfrm>
            <a:off x="2788920" y="2971800"/>
            <a:ext cx="1984248" cy="768096"/>
          </a:xfrm>
          <a:prstGeom prst="rect">
            <a:avLst/>
          </a:prstGeom>
          <a:solidFill>
            <a:srgbClr val="ED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98648" y="3154680"/>
            <a:ext cx="1773936" cy="457200"/>
          </a:xfrm>
          <a:prstGeom prst="rect">
            <a:avLst/>
          </a:prstGeom>
          <a:noFill/>
        </p:spPr>
        <p:txBody>
          <a:bodyPr wrap="square" lIns="0" rIns="0" tIns="0" bIns="0">
            <a:spAutoFit/>
          </a:bodyPr>
          <a:lstStyle/>
          <a:p>
            <a:pPr>
              <a:defRPr sz="1700" b="1">
                <a:solidFill>
                  <a:srgbClr val="007F82"/>
                </a:solidFill>
                <a:latin typeface="Aptos"/>
              </a:defRPr>
            </a:pPr>
            <a:r>
              <a:t>Stress field</a:t>
            </a:r>
          </a:p>
        </p:txBody>
      </p:sp>
      <p:sp>
        <p:nvSpPr>
          <p:cNvPr id="14" name="TextBox 13"/>
          <p:cNvSpPr txBox="1"/>
          <p:nvPr/>
        </p:nvSpPr>
        <p:spPr>
          <a:xfrm>
            <a:off x="4818888" y="3172968"/>
            <a:ext cx="274320" cy="365760"/>
          </a:xfrm>
          <a:prstGeom prst="rect">
            <a:avLst/>
          </a:prstGeom>
          <a:noFill/>
        </p:spPr>
        <p:txBody>
          <a:bodyPr wrap="square" lIns="0" rIns="0" tIns="0" bIns="0">
            <a:spAutoFit/>
          </a:bodyPr>
          <a:lstStyle/>
          <a:p>
            <a:pPr>
              <a:defRPr sz="2000" b="1">
                <a:solidFill>
                  <a:srgbClr val="007F82"/>
                </a:solidFill>
                <a:latin typeface="Aptos"/>
              </a:defRPr>
            </a:pPr>
            <a:r>
              <a:t>→</a:t>
            </a:r>
          </a:p>
        </p:txBody>
      </p:sp>
      <p:sp>
        <p:nvSpPr>
          <p:cNvPr id="15" name="Rectangle 14"/>
          <p:cNvSpPr/>
          <p:nvPr/>
        </p:nvSpPr>
        <p:spPr>
          <a:xfrm>
            <a:off x="5029200" y="2971800"/>
            <a:ext cx="1984248" cy="768096"/>
          </a:xfrm>
          <a:prstGeom prst="rect">
            <a:avLst/>
          </a:prstGeom>
          <a:solidFill>
            <a:srgbClr val="ED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3154680"/>
            <a:ext cx="1773936" cy="457200"/>
          </a:xfrm>
          <a:prstGeom prst="rect">
            <a:avLst/>
          </a:prstGeom>
          <a:noFill/>
        </p:spPr>
        <p:txBody>
          <a:bodyPr wrap="square" lIns="0" rIns="0" tIns="0" bIns="0">
            <a:spAutoFit/>
          </a:bodyPr>
          <a:lstStyle/>
          <a:p>
            <a:pPr>
              <a:defRPr sz="1700" b="1">
                <a:solidFill>
                  <a:srgbClr val="007F82"/>
                </a:solidFill>
                <a:latin typeface="Aptos"/>
              </a:defRPr>
            </a:pPr>
            <a:r>
              <a:t>Optical retardation</a:t>
            </a:r>
          </a:p>
        </p:txBody>
      </p:sp>
      <p:sp>
        <p:nvSpPr>
          <p:cNvPr id="17" name="TextBox 16"/>
          <p:cNvSpPr txBox="1"/>
          <p:nvPr/>
        </p:nvSpPr>
        <p:spPr>
          <a:xfrm>
            <a:off x="7059168" y="3172968"/>
            <a:ext cx="274320" cy="365760"/>
          </a:xfrm>
          <a:prstGeom prst="rect">
            <a:avLst/>
          </a:prstGeom>
          <a:noFill/>
        </p:spPr>
        <p:txBody>
          <a:bodyPr wrap="square" lIns="0" rIns="0" tIns="0" bIns="0">
            <a:spAutoFit/>
          </a:bodyPr>
          <a:lstStyle/>
          <a:p>
            <a:pPr>
              <a:defRPr sz="2000" b="1">
                <a:solidFill>
                  <a:srgbClr val="007F82"/>
                </a:solidFill>
                <a:latin typeface="Aptos"/>
              </a:defRPr>
            </a:pPr>
            <a:r>
              <a:t>→</a:t>
            </a:r>
          </a:p>
        </p:txBody>
      </p:sp>
      <p:sp>
        <p:nvSpPr>
          <p:cNvPr id="18" name="Rectangle 17"/>
          <p:cNvSpPr/>
          <p:nvPr/>
        </p:nvSpPr>
        <p:spPr>
          <a:xfrm>
            <a:off x="7269480" y="2971800"/>
            <a:ext cx="1984248" cy="768096"/>
          </a:xfrm>
          <a:prstGeom prst="rect">
            <a:avLst/>
          </a:prstGeom>
          <a:solidFill>
            <a:srgbClr val="ED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79208" y="3154680"/>
            <a:ext cx="1773936" cy="457200"/>
          </a:xfrm>
          <a:prstGeom prst="rect">
            <a:avLst/>
          </a:prstGeom>
          <a:noFill/>
        </p:spPr>
        <p:txBody>
          <a:bodyPr wrap="square" lIns="0" rIns="0" tIns="0" bIns="0">
            <a:spAutoFit/>
          </a:bodyPr>
          <a:lstStyle/>
          <a:p>
            <a:pPr>
              <a:defRPr sz="1700" b="1">
                <a:solidFill>
                  <a:srgbClr val="007F82"/>
                </a:solidFill>
                <a:latin typeface="Aptos"/>
              </a:defRPr>
            </a:pPr>
            <a:r>
              <a:t>Synthetic images</a:t>
            </a:r>
          </a:p>
        </p:txBody>
      </p:sp>
      <p:sp>
        <p:nvSpPr>
          <p:cNvPr id="20" name="TextBox 19"/>
          <p:cNvSpPr txBox="1"/>
          <p:nvPr/>
        </p:nvSpPr>
        <p:spPr>
          <a:xfrm>
            <a:off x="9299448" y="3172968"/>
            <a:ext cx="274320" cy="365760"/>
          </a:xfrm>
          <a:prstGeom prst="rect">
            <a:avLst/>
          </a:prstGeom>
          <a:noFill/>
        </p:spPr>
        <p:txBody>
          <a:bodyPr wrap="square" lIns="0" rIns="0" tIns="0" bIns="0">
            <a:spAutoFit/>
          </a:bodyPr>
          <a:lstStyle/>
          <a:p>
            <a:pPr>
              <a:defRPr sz="2000" b="1">
                <a:solidFill>
                  <a:srgbClr val="007F82"/>
                </a:solidFill>
                <a:latin typeface="Aptos"/>
              </a:defRPr>
            </a:pPr>
            <a:r>
              <a:t>→</a:t>
            </a:r>
          </a:p>
        </p:txBody>
      </p:sp>
      <p:sp>
        <p:nvSpPr>
          <p:cNvPr id="21" name="Rectangle 20"/>
          <p:cNvSpPr/>
          <p:nvPr/>
        </p:nvSpPr>
        <p:spPr>
          <a:xfrm>
            <a:off x="9509760" y="2971800"/>
            <a:ext cx="1984248" cy="768096"/>
          </a:xfrm>
          <a:prstGeom prst="rect">
            <a:avLst/>
          </a:prstGeom>
          <a:solidFill>
            <a:srgbClr val="ED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19488" y="3154680"/>
            <a:ext cx="1773936" cy="457200"/>
          </a:xfrm>
          <a:prstGeom prst="rect">
            <a:avLst/>
          </a:prstGeom>
          <a:noFill/>
        </p:spPr>
        <p:txBody>
          <a:bodyPr wrap="square" lIns="0" rIns="0" tIns="0" bIns="0">
            <a:spAutoFit/>
          </a:bodyPr>
          <a:lstStyle/>
          <a:p>
            <a:pPr>
              <a:defRPr sz="1700" b="1">
                <a:solidFill>
                  <a:srgbClr val="007F82"/>
                </a:solidFill>
                <a:latin typeface="Aptos"/>
              </a:defRPr>
            </a:pPr>
            <a:r>
              <a:t>Constrained inverse</a:t>
            </a:r>
          </a:p>
        </p:txBody>
      </p:sp>
      <p:sp>
        <p:nvSpPr>
          <p:cNvPr id="23" name="TextBox 22"/>
          <p:cNvSpPr txBox="1"/>
          <p:nvPr/>
        </p:nvSpPr>
        <p:spPr>
          <a:xfrm>
            <a:off x="594360" y="4114800"/>
            <a:ext cx="10972800" cy="512064"/>
          </a:xfrm>
          <a:prstGeom prst="rect">
            <a:avLst/>
          </a:prstGeom>
          <a:noFill/>
        </p:spPr>
        <p:txBody>
          <a:bodyPr wrap="square" lIns="0" rIns="0" tIns="0" bIns="0">
            <a:spAutoFit/>
          </a:bodyPr>
          <a:lstStyle/>
          <a:p>
            <a:pPr>
              <a:defRPr sz="1900" b="0">
                <a:solidFill>
                  <a:srgbClr val="132A42"/>
                </a:solidFill>
                <a:latin typeface="Aptos"/>
              </a:defRPr>
            </a:pPr>
            <a:r>
              <a:t>• Mechanics: analytical and finite-element models provide stress differences and principal-axis orientations.</a:t>
            </a:r>
          </a:p>
        </p:txBody>
      </p:sp>
      <p:sp>
        <p:nvSpPr>
          <p:cNvPr id="24" name="TextBox 23"/>
          <p:cNvSpPr txBox="1"/>
          <p:nvPr/>
        </p:nvSpPr>
        <p:spPr>
          <a:xfrm>
            <a:off x="594360" y="4681728"/>
            <a:ext cx="10972800" cy="512064"/>
          </a:xfrm>
          <a:prstGeom prst="rect">
            <a:avLst/>
          </a:prstGeom>
          <a:noFill/>
        </p:spPr>
        <p:txBody>
          <a:bodyPr wrap="square" lIns="0" rIns="0" tIns="0" bIns="0">
            <a:spAutoFit/>
          </a:bodyPr>
          <a:lstStyle/>
          <a:p>
            <a:pPr>
              <a:defRPr sz="1900" b="0">
                <a:solidFill>
                  <a:srgbClr val="132A42"/>
                </a:solidFill>
                <a:latin typeface="Aptos"/>
              </a:defRPr>
            </a:pPr>
            <a:r>
              <a:t>• Optics: the stress-optic law and Jones model predict wavelength- and analyzer-dependent intensity.</a:t>
            </a:r>
          </a:p>
        </p:txBody>
      </p:sp>
      <p:sp>
        <p:nvSpPr>
          <p:cNvPr id="25" name="TextBox 24"/>
          <p:cNvSpPr txBox="1"/>
          <p:nvPr/>
        </p:nvSpPr>
        <p:spPr>
          <a:xfrm>
            <a:off x="594360" y="5248656"/>
            <a:ext cx="10972800" cy="512064"/>
          </a:xfrm>
          <a:prstGeom prst="rect">
            <a:avLst/>
          </a:prstGeom>
          <a:noFill/>
        </p:spPr>
        <p:txBody>
          <a:bodyPr wrap="square" lIns="0" rIns="0" tIns="0" bIns="0">
            <a:spAutoFit/>
          </a:bodyPr>
          <a:lstStyle/>
          <a:p>
            <a:pPr>
              <a:defRPr sz="1900" b="0">
                <a:solidFill>
                  <a:srgbClr val="132A42"/>
                </a:solidFill>
                <a:latin typeface="Aptos"/>
              </a:defRPr>
            </a:pPr>
            <a:r>
              <a:t>• Inverse: recover stress differences only where measurements are informative, with explicit uncertainty.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01168"/>
            <a:ext cx="10972800" cy="274320"/>
          </a:xfrm>
          <a:prstGeom prst="rect">
            <a:avLst/>
          </a:prstGeom>
          <a:noFill/>
        </p:spPr>
        <p:txBody>
          <a:bodyPr wrap="square" lIns="0" rIns="0" tIns="0" bIns="0">
            <a:spAutoFit/>
          </a:bodyPr>
          <a:lstStyle/>
          <a:p>
            <a:pPr>
              <a:defRPr sz="1100" b="1">
                <a:solidFill>
                  <a:srgbClr val="007F82"/>
                </a:solidFill>
                <a:latin typeface="Aptos"/>
              </a:defRPr>
            </a:pPr>
            <a:r>
              <a:t>POLARIS-X / POLARIMETRIC STRESS IMAGING</a:t>
            </a:r>
          </a:p>
        </p:txBody>
      </p:sp>
      <p:sp>
        <p:nvSpPr>
          <p:cNvPr id="3" name="TextBox 2"/>
          <p:cNvSpPr txBox="1"/>
          <p:nvPr/>
        </p:nvSpPr>
        <p:spPr>
          <a:xfrm>
            <a:off x="457200" y="585216"/>
            <a:ext cx="11247120" cy="548640"/>
          </a:xfrm>
          <a:prstGeom prst="rect">
            <a:avLst/>
          </a:prstGeom>
          <a:noFill/>
        </p:spPr>
        <p:txBody>
          <a:bodyPr wrap="square" lIns="0" rIns="0" tIns="0" bIns="0">
            <a:spAutoFit/>
          </a:bodyPr>
          <a:lstStyle/>
          <a:p>
            <a:pPr>
              <a:defRPr sz="2800" b="1">
                <a:solidFill>
                  <a:srgbClr val="132A42"/>
                </a:solidFill>
                <a:latin typeface="Aptos"/>
              </a:defRPr>
            </a:pPr>
            <a:r>
              <a:t>Image 1 — Effect of analyzer rotation</a:t>
            </a:r>
          </a:p>
        </p:txBody>
      </p:sp>
      <p:sp>
        <p:nvSpPr>
          <p:cNvPr id="4" name="Rectangle 3"/>
          <p:cNvSpPr/>
          <p:nvPr/>
        </p:nvSpPr>
        <p:spPr>
          <a:xfrm>
            <a:off x="457200" y="1216152"/>
            <a:ext cx="11247120" cy="2286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10528"/>
            <a:ext cx="10881360" cy="210312"/>
          </a:xfrm>
          <a:prstGeom prst="rect">
            <a:avLst/>
          </a:prstGeom>
          <a:noFill/>
        </p:spPr>
        <p:txBody>
          <a:bodyPr wrap="square" lIns="0" rIns="0" tIns="0" bIns="0">
            <a:spAutoFit/>
          </a:bodyPr>
          <a:lstStyle/>
          <a:p>
            <a:pPr>
              <a:defRPr sz="1000" b="0">
                <a:solidFill>
                  <a:srgbClr val="425466"/>
                </a:solidFill>
                <a:latin typeface="Aptos"/>
              </a:defRPr>
            </a:pPr>
            <a:r>
              <a:t>Synthetic simulation • Illustrative material parameters • Experimental calibration required</a:t>
            </a:r>
          </a:p>
        </p:txBody>
      </p:sp>
      <p:sp>
        <p:nvSpPr>
          <p:cNvPr id="6" name="TextBox 5"/>
          <p:cNvSpPr txBox="1"/>
          <p:nvPr/>
        </p:nvSpPr>
        <p:spPr>
          <a:xfrm>
            <a:off x="11247120" y="6473952"/>
            <a:ext cx="411480" cy="274320"/>
          </a:xfrm>
          <a:prstGeom prst="rect">
            <a:avLst/>
          </a:prstGeom>
          <a:noFill/>
        </p:spPr>
        <p:txBody>
          <a:bodyPr wrap="square" lIns="0" rIns="0" tIns="0" bIns="0">
            <a:spAutoFit/>
          </a:bodyPr>
          <a:lstStyle/>
          <a:p>
            <a:pPr>
              <a:defRPr sz="1200" b="1">
                <a:solidFill>
                  <a:srgbClr val="007F82"/>
                </a:solidFill>
                <a:latin typeface="Aptos"/>
              </a:defRPr>
            </a:pPr>
            <a:r>
              <a:t>02</a:t>
            </a:r>
          </a:p>
        </p:txBody>
      </p:sp>
      <p:pic>
        <p:nvPicPr>
          <p:cNvPr id="7" name="Picture 6" descr="Image_1_Analyzer_Rotation.png"/>
          <p:cNvPicPr>
            <a:picLocks noChangeAspect="1"/>
          </p:cNvPicPr>
          <p:nvPr/>
        </p:nvPicPr>
        <p:blipFill>
          <a:blip r:embed="rId2"/>
          <a:stretch>
            <a:fillRect/>
          </a:stretch>
        </p:blipFill>
        <p:spPr>
          <a:xfrm>
            <a:off x="2460732" y="1362456"/>
            <a:ext cx="7270534" cy="3547872"/>
          </a:xfrm>
          <a:prstGeom prst="rect">
            <a:avLst/>
          </a:prstGeom>
        </p:spPr>
      </p:pic>
      <p:sp>
        <p:nvSpPr>
          <p:cNvPr id="8" name="Rectangle 7"/>
          <p:cNvSpPr/>
          <p:nvPr/>
        </p:nvSpPr>
        <p:spPr>
          <a:xfrm>
            <a:off x="457200" y="5074920"/>
            <a:ext cx="11247120" cy="13716"/>
          </a:xfrm>
          <a:prstGeom prst="rect">
            <a:avLst/>
          </a:prstGeom>
          <a:solidFill>
            <a:srgbClr val="DB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5276088"/>
            <a:ext cx="11018520" cy="347472"/>
          </a:xfrm>
          <a:prstGeom prst="rect">
            <a:avLst/>
          </a:prstGeom>
          <a:noFill/>
        </p:spPr>
        <p:txBody>
          <a:bodyPr wrap="square" lIns="0" rIns="0" tIns="0" bIns="0">
            <a:spAutoFit/>
          </a:bodyPr>
          <a:lstStyle/>
          <a:p>
            <a:pPr>
              <a:defRPr sz="1650" b="0">
                <a:solidFill>
                  <a:srgbClr val="132A42"/>
                </a:solidFill>
                <a:latin typeface="Aptos"/>
              </a:defRPr>
            </a:pPr>
            <a:r>
              <a:t>• Same Kirsch field at nominal 1000 N, viewed at analyzer angles of 0°, 45°, 90° and 135°.</a:t>
            </a:r>
          </a:p>
        </p:txBody>
      </p:sp>
      <p:sp>
        <p:nvSpPr>
          <p:cNvPr id="10" name="TextBox 9"/>
          <p:cNvSpPr txBox="1"/>
          <p:nvPr/>
        </p:nvSpPr>
        <p:spPr>
          <a:xfrm>
            <a:off x="566928" y="5632703"/>
            <a:ext cx="11018520" cy="347472"/>
          </a:xfrm>
          <a:prstGeom prst="rect">
            <a:avLst/>
          </a:prstGeom>
          <a:noFill/>
        </p:spPr>
        <p:txBody>
          <a:bodyPr wrap="square" lIns="0" rIns="0" tIns="0" bIns="0">
            <a:spAutoFit/>
          </a:bodyPr>
          <a:lstStyle/>
          <a:p>
            <a:pPr>
              <a:defRPr sz="1650" b="0">
                <a:solidFill>
                  <a:srgbClr val="132A42"/>
                </a:solidFill>
                <a:latin typeface="Aptos"/>
              </a:defRPr>
            </a:pPr>
            <a:r>
              <a:t>• Parallel polarizers give a bright background; crossed polarizers reveal localized optical contrast.</a:t>
            </a:r>
          </a:p>
        </p:txBody>
      </p:sp>
      <p:sp>
        <p:nvSpPr>
          <p:cNvPr id="11" name="TextBox 10"/>
          <p:cNvSpPr txBox="1"/>
          <p:nvPr/>
        </p:nvSpPr>
        <p:spPr>
          <a:xfrm>
            <a:off x="566928" y="5989320"/>
            <a:ext cx="11018520" cy="347472"/>
          </a:xfrm>
          <a:prstGeom prst="rect">
            <a:avLst/>
          </a:prstGeom>
          <a:noFill/>
        </p:spPr>
        <p:txBody>
          <a:bodyPr wrap="square" lIns="0" rIns="0" tIns="0" bIns="0">
            <a:spAutoFit/>
          </a:bodyPr>
          <a:lstStyle/>
          <a:p>
            <a:pPr>
              <a:defRPr sz="1650" b="0">
                <a:solidFill>
                  <a:srgbClr val="132A42"/>
                </a:solidFill>
                <a:latin typeface="Aptos"/>
              </a:defRPr>
            </a:pPr>
            <a:r>
              <a:t>• Image brightness depends on optical orientation and retardation, as well as the display gamma.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01168"/>
            <a:ext cx="10972800" cy="274320"/>
          </a:xfrm>
          <a:prstGeom prst="rect">
            <a:avLst/>
          </a:prstGeom>
          <a:noFill/>
        </p:spPr>
        <p:txBody>
          <a:bodyPr wrap="square" lIns="0" rIns="0" tIns="0" bIns="0">
            <a:spAutoFit/>
          </a:bodyPr>
          <a:lstStyle/>
          <a:p>
            <a:pPr>
              <a:defRPr sz="1100" b="1">
                <a:solidFill>
                  <a:srgbClr val="007F82"/>
                </a:solidFill>
                <a:latin typeface="Aptos"/>
              </a:defRPr>
            </a:pPr>
            <a:r>
              <a:t>POLARIS-X / POLARIMETRIC STRESS IMAGING</a:t>
            </a:r>
          </a:p>
        </p:txBody>
      </p:sp>
      <p:sp>
        <p:nvSpPr>
          <p:cNvPr id="3" name="TextBox 2"/>
          <p:cNvSpPr txBox="1"/>
          <p:nvPr/>
        </p:nvSpPr>
        <p:spPr>
          <a:xfrm>
            <a:off x="457200" y="585216"/>
            <a:ext cx="11247120" cy="548640"/>
          </a:xfrm>
          <a:prstGeom prst="rect">
            <a:avLst/>
          </a:prstGeom>
          <a:noFill/>
        </p:spPr>
        <p:txBody>
          <a:bodyPr wrap="square" lIns="0" rIns="0" tIns="0" bIns="0">
            <a:spAutoFit/>
          </a:bodyPr>
          <a:lstStyle/>
          <a:p>
            <a:pPr>
              <a:defRPr sz="2800" b="1">
                <a:solidFill>
                  <a:srgbClr val="132A42"/>
                </a:solidFill>
                <a:latin typeface="Aptos"/>
              </a:defRPr>
            </a:pPr>
            <a:r>
              <a:t>Image 2 — Finite-element mesh and deformation</a:t>
            </a:r>
          </a:p>
        </p:txBody>
      </p:sp>
      <p:sp>
        <p:nvSpPr>
          <p:cNvPr id="4" name="Rectangle 3"/>
          <p:cNvSpPr/>
          <p:nvPr/>
        </p:nvSpPr>
        <p:spPr>
          <a:xfrm>
            <a:off x="457200" y="1216152"/>
            <a:ext cx="11247120" cy="2286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10528"/>
            <a:ext cx="10881360" cy="210312"/>
          </a:xfrm>
          <a:prstGeom prst="rect">
            <a:avLst/>
          </a:prstGeom>
          <a:noFill/>
        </p:spPr>
        <p:txBody>
          <a:bodyPr wrap="square" lIns="0" rIns="0" tIns="0" bIns="0">
            <a:spAutoFit/>
          </a:bodyPr>
          <a:lstStyle/>
          <a:p>
            <a:pPr>
              <a:defRPr sz="1000" b="0">
                <a:solidFill>
                  <a:srgbClr val="425466"/>
                </a:solidFill>
                <a:latin typeface="Aptos"/>
              </a:defRPr>
            </a:pPr>
            <a:r>
              <a:t>Synthetic simulation • Illustrative material parameters • Experimental calibration required</a:t>
            </a:r>
          </a:p>
        </p:txBody>
      </p:sp>
      <p:sp>
        <p:nvSpPr>
          <p:cNvPr id="6" name="TextBox 5"/>
          <p:cNvSpPr txBox="1"/>
          <p:nvPr/>
        </p:nvSpPr>
        <p:spPr>
          <a:xfrm>
            <a:off x="11247120" y="6473952"/>
            <a:ext cx="411480" cy="274320"/>
          </a:xfrm>
          <a:prstGeom prst="rect">
            <a:avLst/>
          </a:prstGeom>
          <a:noFill/>
        </p:spPr>
        <p:txBody>
          <a:bodyPr wrap="square" lIns="0" rIns="0" tIns="0" bIns="0">
            <a:spAutoFit/>
          </a:bodyPr>
          <a:lstStyle/>
          <a:p>
            <a:pPr>
              <a:defRPr sz="1200" b="1">
                <a:solidFill>
                  <a:srgbClr val="007F82"/>
                </a:solidFill>
                <a:latin typeface="Aptos"/>
              </a:defRPr>
            </a:pPr>
            <a:r>
              <a:t>03</a:t>
            </a:r>
          </a:p>
        </p:txBody>
      </p:sp>
      <p:pic>
        <p:nvPicPr>
          <p:cNvPr id="7" name="Picture 6" descr="Image_2_FEA_Mesh_and_Deformation.png"/>
          <p:cNvPicPr>
            <a:picLocks noChangeAspect="1"/>
          </p:cNvPicPr>
          <p:nvPr/>
        </p:nvPicPr>
        <p:blipFill>
          <a:blip r:embed="rId2"/>
          <a:stretch>
            <a:fillRect/>
          </a:stretch>
        </p:blipFill>
        <p:spPr>
          <a:xfrm>
            <a:off x="1728671" y="1362456"/>
            <a:ext cx="8734656" cy="3547872"/>
          </a:xfrm>
          <a:prstGeom prst="rect">
            <a:avLst/>
          </a:prstGeom>
        </p:spPr>
      </p:pic>
      <p:sp>
        <p:nvSpPr>
          <p:cNvPr id="8" name="Rectangle 7"/>
          <p:cNvSpPr/>
          <p:nvPr/>
        </p:nvSpPr>
        <p:spPr>
          <a:xfrm>
            <a:off x="457200" y="5074920"/>
            <a:ext cx="11247120" cy="13716"/>
          </a:xfrm>
          <a:prstGeom prst="rect">
            <a:avLst/>
          </a:prstGeom>
          <a:solidFill>
            <a:srgbClr val="DB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5276088"/>
            <a:ext cx="11018520" cy="347472"/>
          </a:xfrm>
          <a:prstGeom prst="rect">
            <a:avLst/>
          </a:prstGeom>
          <a:noFill/>
        </p:spPr>
        <p:txBody>
          <a:bodyPr wrap="square" lIns="0" rIns="0" tIns="0" bIns="0">
            <a:spAutoFit/>
          </a:bodyPr>
          <a:lstStyle/>
          <a:p>
            <a:pPr>
              <a:defRPr sz="1650" b="0">
                <a:solidFill>
                  <a:srgbClr val="132A42"/>
                </a:solidFill>
                <a:latin typeface="Aptos"/>
              </a:defRPr>
            </a:pPr>
            <a:r>
              <a:t>• Finite plate at 1000 N: triangular elements are refined near the hole.</a:t>
            </a:r>
          </a:p>
        </p:txBody>
      </p:sp>
      <p:sp>
        <p:nvSpPr>
          <p:cNvPr id="10" name="TextBox 9"/>
          <p:cNvSpPr txBox="1"/>
          <p:nvPr/>
        </p:nvSpPr>
        <p:spPr>
          <a:xfrm>
            <a:off x="566928" y="5632703"/>
            <a:ext cx="11018520" cy="347472"/>
          </a:xfrm>
          <a:prstGeom prst="rect">
            <a:avLst/>
          </a:prstGeom>
          <a:noFill/>
        </p:spPr>
        <p:txBody>
          <a:bodyPr wrap="square" lIns="0" rIns="0" tIns="0" bIns="0">
            <a:spAutoFit/>
          </a:bodyPr>
          <a:lstStyle/>
          <a:p>
            <a:pPr>
              <a:defRPr sz="1650" b="0">
                <a:solidFill>
                  <a:srgbClr val="132A42"/>
                </a:solidFill>
                <a:latin typeface="Aptos"/>
              </a:defRPr>
            </a:pPr>
            <a:r>
              <a:t>• The deformed shape is magnified 100× to make small displacements visible.</a:t>
            </a:r>
          </a:p>
        </p:txBody>
      </p:sp>
      <p:sp>
        <p:nvSpPr>
          <p:cNvPr id="11" name="TextBox 10"/>
          <p:cNvSpPr txBox="1"/>
          <p:nvPr/>
        </p:nvSpPr>
        <p:spPr>
          <a:xfrm>
            <a:off x="566928" y="5989320"/>
            <a:ext cx="11018520" cy="347472"/>
          </a:xfrm>
          <a:prstGeom prst="rect">
            <a:avLst/>
          </a:prstGeom>
          <a:noFill/>
        </p:spPr>
        <p:txBody>
          <a:bodyPr wrap="square" lIns="0" rIns="0" tIns="0" bIns="0">
            <a:spAutoFit/>
          </a:bodyPr>
          <a:lstStyle/>
          <a:p>
            <a:pPr>
              <a:defRPr sz="1650" b="0">
                <a:solidFill>
                  <a:srgbClr val="132A42"/>
                </a:solidFill>
                <a:latin typeface="Aptos"/>
              </a:defRPr>
            </a:pPr>
            <a:r>
              <a:t>• The color scale gives actual displacement magnitude in mm; its values are not magnified.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01168"/>
            <a:ext cx="10972800" cy="274320"/>
          </a:xfrm>
          <a:prstGeom prst="rect">
            <a:avLst/>
          </a:prstGeom>
          <a:noFill/>
        </p:spPr>
        <p:txBody>
          <a:bodyPr wrap="square" lIns="0" rIns="0" tIns="0" bIns="0">
            <a:spAutoFit/>
          </a:bodyPr>
          <a:lstStyle/>
          <a:p>
            <a:pPr>
              <a:defRPr sz="1100" b="1">
                <a:solidFill>
                  <a:srgbClr val="007F82"/>
                </a:solidFill>
                <a:latin typeface="Aptos"/>
              </a:defRPr>
            </a:pPr>
            <a:r>
              <a:t>POLARIS-X / POLARIMETRIC STRESS IMAGING</a:t>
            </a:r>
          </a:p>
        </p:txBody>
      </p:sp>
      <p:sp>
        <p:nvSpPr>
          <p:cNvPr id="3" name="TextBox 2"/>
          <p:cNvSpPr txBox="1"/>
          <p:nvPr/>
        </p:nvSpPr>
        <p:spPr>
          <a:xfrm>
            <a:off x="457200" y="585216"/>
            <a:ext cx="11247120" cy="548640"/>
          </a:xfrm>
          <a:prstGeom prst="rect">
            <a:avLst/>
          </a:prstGeom>
          <a:noFill/>
        </p:spPr>
        <p:txBody>
          <a:bodyPr wrap="square" lIns="0" rIns="0" tIns="0" bIns="0">
            <a:spAutoFit/>
          </a:bodyPr>
          <a:lstStyle/>
          <a:p>
            <a:pPr>
              <a:defRPr sz="2800" b="1">
                <a:solidFill>
                  <a:srgbClr val="132A42"/>
                </a:solidFill>
                <a:latin typeface="Aptos"/>
              </a:defRPr>
            </a:pPr>
            <a:r>
              <a:t>Image 3 — Finite-plate stress-to-light simulation</a:t>
            </a:r>
          </a:p>
        </p:txBody>
      </p:sp>
      <p:sp>
        <p:nvSpPr>
          <p:cNvPr id="4" name="Rectangle 3"/>
          <p:cNvSpPr/>
          <p:nvPr/>
        </p:nvSpPr>
        <p:spPr>
          <a:xfrm>
            <a:off x="457200" y="1216152"/>
            <a:ext cx="11247120" cy="2286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10528"/>
            <a:ext cx="10881360" cy="210312"/>
          </a:xfrm>
          <a:prstGeom prst="rect">
            <a:avLst/>
          </a:prstGeom>
          <a:noFill/>
        </p:spPr>
        <p:txBody>
          <a:bodyPr wrap="square" lIns="0" rIns="0" tIns="0" bIns="0">
            <a:spAutoFit/>
          </a:bodyPr>
          <a:lstStyle/>
          <a:p>
            <a:pPr>
              <a:defRPr sz="1000" b="0">
                <a:solidFill>
                  <a:srgbClr val="425466"/>
                </a:solidFill>
                <a:latin typeface="Aptos"/>
              </a:defRPr>
            </a:pPr>
            <a:r>
              <a:t>Synthetic simulation • Illustrative material parameters • Experimental calibration required</a:t>
            </a:r>
          </a:p>
        </p:txBody>
      </p:sp>
      <p:sp>
        <p:nvSpPr>
          <p:cNvPr id="6" name="TextBox 5"/>
          <p:cNvSpPr txBox="1"/>
          <p:nvPr/>
        </p:nvSpPr>
        <p:spPr>
          <a:xfrm>
            <a:off x="11247120" y="6473952"/>
            <a:ext cx="411480" cy="274320"/>
          </a:xfrm>
          <a:prstGeom prst="rect">
            <a:avLst/>
          </a:prstGeom>
          <a:noFill/>
        </p:spPr>
        <p:txBody>
          <a:bodyPr wrap="square" lIns="0" rIns="0" tIns="0" bIns="0">
            <a:spAutoFit/>
          </a:bodyPr>
          <a:lstStyle/>
          <a:p>
            <a:pPr>
              <a:defRPr sz="1200" b="1">
                <a:solidFill>
                  <a:srgbClr val="007F82"/>
                </a:solidFill>
                <a:latin typeface="Aptos"/>
              </a:defRPr>
            </a:pPr>
            <a:r>
              <a:t>04</a:t>
            </a:r>
          </a:p>
        </p:txBody>
      </p:sp>
      <p:pic>
        <p:nvPicPr>
          <p:cNvPr id="7" name="Picture 6" descr="Image_3_FEA_Stress_and_Optics.png"/>
          <p:cNvPicPr>
            <a:picLocks noChangeAspect="1"/>
          </p:cNvPicPr>
          <p:nvPr/>
        </p:nvPicPr>
        <p:blipFill>
          <a:blip r:embed="rId2"/>
          <a:stretch>
            <a:fillRect/>
          </a:stretch>
        </p:blipFill>
        <p:spPr>
          <a:xfrm>
            <a:off x="2503664" y="1362456"/>
            <a:ext cx="7184670" cy="3547872"/>
          </a:xfrm>
          <a:prstGeom prst="rect">
            <a:avLst/>
          </a:prstGeom>
        </p:spPr>
      </p:pic>
      <p:sp>
        <p:nvSpPr>
          <p:cNvPr id="8" name="Rectangle 7"/>
          <p:cNvSpPr/>
          <p:nvPr/>
        </p:nvSpPr>
        <p:spPr>
          <a:xfrm>
            <a:off x="457200" y="5074920"/>
            <a:ext cx="11247120" cy="13716"/>
          </a:xfrm>
          <a:prstGeom prst="rect">
            <a:avLst/>
          </a:prstGeom>
          <a:solidFill>
            <a:srgbClr val="DB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5276088"/>
            <a:ext cx="11018520" cy="347472"/>
          </a:xfrm>
          <a:prstGeom prst="rect">
            <a:avLst/>
          </a:prstGeom>
          <a:noFill/>
        </p:spPr>
        <p:txBody>
          <a:bodyPr wrap="square" lIns="0" rIns="0" tIns="0" bIns="0">
            <a:spAutoFit/>
          </a:bodyPr>
          <a:lstStyle/>
          <a:p>
            <a:pPr>
              <a:defRPr sz="1650" b="0">
                <a:solidFill>
                  <a:srgbClr val="132A42"/>
                </a:solidFill>
                <a:latin typeface="Aptos"/>
              </a:defRPr>
            </a:pPr>
            <a:r>
              <a:t>• Finite plate at 1000 N: principal stress difference is elevated near the hole boundary.</a:t>
            </a:r>
          </a:p>
        </p:txBody>
      </p:sp>
      <p:sp>
        <p:nvSpPr>
          <p:cNvPr id="10" name="TextBox 9"/>
          <p:cNvSpPr txBox="1"/>
          <p:nvPr/>
        </p:nvSpPr>
        <p:spPr>
          <a:xfrm>
            <a:off x="566928" y="5632703"/>
            <a:ext cx="11018520" cy="347472"/>
          </a:xfrm>
          <a:prstGeom prst="rect">
            <a:avLst/>
          </a:prstGeom>
          <a:noFill/>
        </p:spPr>
        <p:txBody>
          <a:bodyPr wrap="square" lIns="0" rIns="0" tIns="0" bIns="0">
            <a:spAutoFit/>
          </a:bodyPr>
          <a:lstStyle/>
          <a:p>
            <a:pPr>
              <a:defRPr sz="1650" b="0">
                <a:solidFill>
                  <a:srgbClr val="132A42"/>
                </a:solidFill>
                <a:latin typeface="Aptos"/>
              </a:defRPr>
            </a:pPr>
            <a:r>
              <a:t>• The stress-optic law converts stress difference to retardation; Jones optics predicts the intensity.</a:t>
            </a:r>
          </a:p>
        </p:txBody>
      </p:sp>
      <p:sp>
        <p:nvSpPr>
          <p:cNvPr id="11" name="TextBox 10"/>
          <p:cNvSpPr txBox="1"/>
          <p:nvPr/>
        </p:nvSpPr>
        <p:spPr>
          <a:xfrm>
            <a:off x="566928" y="5989320"/>
            <a:ext cx="11018520" cy="347472"/>
          </a:xfrm>
          <a:prstGeom prst="rect">
            <a:avLst/>
          </a:prstGeom>
          <a:noFill/>
        </p:spPr>
        <p:txBody>
          <a:bodyPr wrap="square" lIns="0" rIns="0" tIns="0" bIns="0">
            <a:spAutoFit/>
          </a:bodyPr>
          <a:lstStyle/>
          <a:p>
            <a:pPr>
              <a:defRPr sz="1650" b="0">
                <a:solidFill>
                  <a:srgbClr val="132A42"/>
                </a:solidFill>
                <a:latin typeface="Aptos"/>
              </a:defRPr>
            </a:pPr>
            <a:r>
              <a:t>• Synthetic RGB combines 630, 525 and 450 nm channels, shown separately below.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01168"/>
            <a:ext cx="10972800" cy="274320"/>
          </a:xfrm>
          <a:prstGeom prst="rect">
            <a:avLst/>
          </a:prstGeom>
          <a:noFill/>
        </p:spPr>
        <p:txBody>
          <a:bodyPr wrap="square" lIns="0" rIns="0" tIns="0" bIns="0">
            <a:spAutoFit/>
          </a:bodyPr>
          <a:lstStyle/>
          <a:p>
            <a:pPr>
              <a:defRPr sz="1100" b="1">
                <a:solidFill>
                  <a:srgbClr val="007F82"/>
                </a:solidFill>
                <a:latin typeface="Aptos"/>
              </a:defRPr>
            </a:pPr>
            <a:r>
              <a:t>POLARIS-X / POLARIMETRIC STRESS IMAGING</a:t>
            </a:r>
          </a:p>
        </p:txBody>
      </p:sp>
      <p:sp>
        <p:nvSpPr>
          <p:cNvPr id="3" name="TextBox 2"/>
          <p:cNvSpPr txBox="1"/>
          <p:nvPr/>
        </p:nvSpPr>
        <p:spPr>
          <a:xfrm>
            <a:off x="457200" y="585216"/>
            <a:ext cx="11247120" cy="548640"/>
          </a:xfrm>
          <a:prstGeom prst="rect">
            <a:avLst/>
          </a:prstGeom>
          <a:noFill/>
        </p:spPr>
        <p:txBody>
          <a:bodyPr wrap="square" lIns="0" rIns="0" tIns="0" bIns="0">
            <a:spAutoFit/>
          </a:bodyPr>
          <a:lstStyle/>
          <a:p>
            <a:pPr>
              <a:defRPr sz="2800" b="1">
                <a:solidFill>
                  <a:srgbClr val="132A42"/>
                </a:solidFill>
                <a:latin typeface="Aptos"/>
              </a:defRPr>
            </a:pPr>
            <a:r>
              <a:t>Image 4 — Constrained reconstruction at 1400 N</a:t>
            </a:r>
          </a:p>
        </p:txBody>
      </p:sp>
      <p:sp>
        <p:nvSpPr>
          <p:cNvPr id="4" name="Rectangle 3"/>
          <p:cNvSpPr/>
          <p:nvPr/>
        </p:nvSpPr>
        <p:spPr>
          <a:xfrm>
            <a:off x="457200" y="1216152"/>
            <a:ext cx="11247120" cy="2286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10528"/>
            <a:ext cx="10881360" cy="210312"/>
          </a:xfrm>
          <a:prstGeom prst="rect">
            <a:avLst/>
          </a:prstGeom>
          <a:noFill/>
        </p:spPr>
        <p:txBody>
          <a:bodyPr wrap="square" lIns="0" rIns="0" tIns="0" bIns="0">
            <a:spAutoFit/>
          </a:bodyPr>
          <a:lstStyle/>
          <a:p>
            <a:pPr>
              <a:defRPr sz="1000" b="0">
                <a:solidFill>
                  <a:srgbClr val="425466"/>
                </a:solidFill>
                <a:latin typeface="Aptos"/>
              </a:defRPr>
            </a:pPr>
            <a:r>
              <a:t>Synthetic simulation • Illustrative material parameters • Experimental calibration required</a:t>
            </a:r>
          </a:p>
        </p:txBody>
      </p:sp>
      <p:sp>
        <p:nvSpPr>
          <p:cNvPr id="6" name="TextBox 5"/>
          <p:cNvSpPr txBox="1"/>
          <p:nvPr/>
        </p:nvSpPr>
        <p:spPr>
          <a:xfrm>
            <a:off x="11247120" y="6473952"/>
            <a:ext cx="411480" cy="274320"/>
          </a:xfrm>
          <a:prstGeom prst="rect">
            <a:avLst/>
          </a:prstGeom>
          <a:noFill/>
        </p:spPr>
        <p:txBody>
          <a:bodyPr wrap="square" lIns="0" rIns="0" tIns="0" bIns="0">
            <a:spAutoFit/>
          </a:bodyPr>
          <a:lstStyle/>
          <a:p>
            <a:pPr>
              <a:defRPr sz="1200" b="1">
                <a:solidFill>
                  <a:srgbClr val="007F82"/>
                </a:solidFill>
                <a:latin typeface="Aptos"/>
              </a:defRPr>
            </a:pPr>
            <a:r>
              <a:t>05</a:t>
            </a:r>
          </a:p>
        </p:txBody>
      </p:sp>
      <p:pic>
        <p:nvPicPr>
          <p:cNvPr id="7" name="Picture 6" descr="Image_4_Reconstruction_and_Uncertainty.png"/>
          <p:cNvPicPr>
            <a:picLocks noChangeAspect="1"/>
          </p:cNvPicPr>
          <p:nvPr/>
        </p:nvPicPr>
        <p:blipFill>
          <a:blip r:embed="rId2"/>
          <a:stretch>
            <a:fillRect/>
          </a:stretch>
        </p:blipFill>
        <p:spPr>
          <a:xfrm>
            <a:off x="586739" y="1699851"/>
            <a:ext cx="11018520" cy="2873081"/>
          </a:xfrm>
          <a:prstGeom prst="rect">
            <a:avLst/>
          </a:prstGeom>
        </p:spPr>
      </p:pic>
      <p:sp>
        <p:nvSpPr>
          <p:cNvPr id="8" name="Rectangle 7"/>
          <p:cNvSpPr/>
          <p:nvPr/>
        </p:nvSpPr>
        <p:spPr>
          <a:xfrm>
            <a:off x="457200" y="5074920"/>
            <a:ext cx="11247120" cy="13716"/>
          </a:xfrm>
          <a:prstGeom prst="rect">
            <a:avLst/>
          </a:prstGeom>
          <a:solidFill>
            <a:srgbClr val="DB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5276088"/>
            <a:ext cx="11018520" cy="347472"/>
          </a:xfrm>
          <a:prstGeom prst="rect">
            <a:avLst/>
          </a:prstGeom>
          <a:noFill/>
        </p:spPr>
        <p:txBody>
          <a:bodyPr wrap="square" lIns="0" rIns="0" tIns="0" bIns="0">
            <a:spAutoFit/>
          </a:bodyPr>
          <a:lstStyle/>
          <a:p>
            <a:pPr>
              <a:defRPr sz="1650" b="0">
                <a:solidFill>
                  <a:srgbClr val="132A42"/>
                </a:solidFill>
                <a:latin typeface="Aptos"/>
              </a:defRPr>
            </a:pPr>
            <a:r>
              <a:t>• Known orientation is supplied; 34.3% of material pixels pass the acceptance checks.</a:t>
            </a:r>
          </a:p>
        </p:txBody>
      </p:sp>
      <p:sp>
        <p:nvSpPr>
          <p:cNvPr id="10" name="TextBox 9"/>
          <p:cNvSpPr txBox="1"/>
          <p:nvPr/>
        </p:nvSpPr>
        <p:spPr>
          <a:xfrm>
            <a:off x="566928" y="5632703"/>
            <a:ext cx="11018520" cy="347472"/>
          </a:xfrm>
          <a:prstGeom prst="rect">
            <a:avLst/>
          </a:prstGeom>
          <a:noFill/>
        </p:spPr>
        <p:txBody>
          <a:bodyPr wrap="square" lIns="0" rIns="0" tIns="0" bIns="0">
            <a:spAutoFit/>
          </a:bodyPr>
          <a:lstStyle/>
          <a:p>
            <a:pPr>
              <a:defRPr sz="1650" b="0">
                <a:solidFill>
                  <a:srgbClr val="132A42"/>
                </a:solidFill>
                <a:latin typeface="Aptos"/>
              </a:defRPr>
            </a:pPr>
            <a:r>
              <a:t>• RMSE: 1.42 MPa; maximum error: 19.31 MPa. Acceptance does not guarantee correctness.</a:t>
            </a:r>
          </a:p>
        </p:txBody>
      </p:sp>
      <p:sp>
        <p:nvSpPr>
          <p:cNvPr id="11" name="TextBox 10"/>
          <p:cNvSpPr txBox="1"/>
          <p:nvPr/>
        </p:nvSpPr>
        <p:spPr>
          <a:xfrm>
            <a:off x="566928" y="5989320"/>
            <a:ext cx="11018520" cy="347472"/>
          </a:xfrm>
          <a:prstGeom prst="rect">
            <a:avLst/>
          </a:prstGeom>
          <a:noFill/>
        </p:spPr>
        <p:txBody>
          <a:bodyPr wrap="square" lIns="0" rIns="0" tIns="0" bIns="0">
            <a:spAutoFit/>
          </a:bodyPr>
          <a:lstStyle/>
          <a:p>
            <a:pPr>
              <a:defRPr sz="1650" b="0">
                <a:solidFill>
                  <a:srgbClr val="132A42"/>
                </a:solidFill>
                <a:latin typeface="Aptos"/>
              </a:defRPr>
            </a:pPr>
            <a:r>
              <a:t>• Blank regions are unresolved or outside material. Local intervals exclude model/calibration error.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